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1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55519-59A9-0EF2-F768-C405DD61DD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AE74D5-54F0-3839-AD44-964AC4972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6AD42D-4AA7-251F-862A-3E9AD33B2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A5E34-6124-4627-ADB8-07AEDF7878AE}" type="datetimeFigureOut">
              <a:rPr lang="es-CL" smtClean="0"/>
              <a:t>01-04-2026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032ADE-5243-AF85-24E3-A9B46A49D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E94F48-CA5A-C0F0-003D-57BB44887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693A-C830-4B6A-A6BB-96748E1997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4117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442EA-B473-7746-1FB6-BAD0E0E60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9FC620-C1D3-769D-BFA1-A54B77F77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F44444-1C03-E1E2-8748-E1BCBFDF6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A5E34-6124-4627-ADB8-07AEDF7878AE}" type="datetimeFigureOut">
              <a:rPr lang="es-CL" smtClean="0"/>
              <a:t>01-04-2026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B63ACD-80AF-7CB4-56FE-0F205F243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F30838-AD80-C9E4-DADD-CFF065AD4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693A-C830-4B6A-A6BB-96748E1997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9982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8398B-2ADB-8EBF-4A8D-DF085568C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F7E636-AC50-B1B4-221C-75FC9B75B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C8F1AB-546E-518F-4D29-D4E8E783C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A5E34-6124-4627-ADB8-07AEDF7878AE}" type="datetimeFigureOut">
              <a:rPr lang="es-CL" smtClean="0"/>
              <a:t>01-04-2026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435E9F-6F79-101E-5ADF-662683033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0DCD01-5C89-15FA-CF7D-0AB09D1C0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693A-C830-4B6A-A6BB-96748E1997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7382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2F5A78-60A4-4A15-6D54-B635F776F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0B42EF-4BD5-67F2-E100-4FA081CC81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0654CF5-F332-57E6-6A20-EBF3EA928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AACB25-025C-001C-1E9D-5B2708C22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A5E34-6124-4627-ADB8-07AEDF7878AE}" type="datetimeFigureOut">
              <a:rPr lang="es-CL" smtClean="0"/>
              <a:t>01-04-2026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F083E5-9FC0-F611-B938-FB502B6B5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70F294-F52C-3041-EECF-FE28AF508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693A-C830-4B6A-A6BB-96748E1997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7383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FB104-CD35-1229-E7ED-629856969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708D1C-DCCB-9008-AAD3-9B1BA134F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BC14F6-8E02-A197-2C4E-79440C213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8175D2A-ACB9-D1A6-BC8B-1E9A49DA62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2DFFF8C-CC3F-9885-077E-C5D03043EF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944921F-0B43-BF64-E39B-097D56404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A5E34-6124-4627-ADB8-07AEDF7878AE}" type="datetimeFigureOut">
              <a:rPr lang="es-CL" smtClean="0"/>
              <a:t>01-04-2026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25D4605-CEF3-EB89-01B4-749393E0A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52007A6-50EB-3510-F50C-FB44CA538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693A-C830-4B6A-A6BB-96748E1997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8931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44552C-361A-D52F-283C-F1847C516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C213C14-1DEF-2A27-D356-63304628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A5E34-6124-4627-ADB8-07AEDF7878AE}" type="datetimeFigureOut">
              <a:rPr lang="es-CL" smtClean="0"/>
              <a:t>01-04-2026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CF223C0-E016-9174-4842-0C3C02C63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6500A1F-4FB0-A436-EF65-CF0ADC9E9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693A-C830-4B6A-A6BB-96748E1997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2146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38C8BAA-8AB5-AB5A-55D4-A322A6514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A5E34-6124-4627-ADB8-07AEDF7878AE}" type="datetimeFigureOut">
              <a:rPr lang="es-CL" smtClean="0"/>
              <a:t>01-04-2026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EBCE54F-1598-8E8A-CD5B-DC75EA404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7E03D0-398F-378C-97D1-ECE4948BF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693A-C830-4B6A-A6BB-96748E1997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4432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F3AA2-D882-0509-FF62-C4EDA6BB0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18BE1D-93A2-FCD7-0477-54B3A2708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63FA37-26E3-081D-155C-E50F3B66F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558378-034E-81DD-64D0-B19694A72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A5E34-6124-4627-ADB8-07AEDF7878AE}" type="datetimeFigureOut">
              <a:rPr lang="es-CL" smtClean="0"/>
              <a:t>01-04-2026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C18AEF-D7B6-226E-5D4A-A549DCC84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8936DF-8629-CD1F-1FA2-A34C7E7D1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693A-C830-4B6A-A6BB-96748E1997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21982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CE20CD-F495-8DBA-9A75-381265C0E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A369F17-55FD-45A9-063D-3D3B0BCE7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DFEFE36-025E-C87C-2285-D497EB0B4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EE53D9-EED5-AEF3-378F-BCA11665B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A5E34-6124-4627-ADB8-07AEDF7878AE}" type="datetimeFigureOut">
              <a:rPr lang="es-CL" smtClean="0"/>
              <a:t>01-04-2026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EF5721-A40E-C404-61E3-33A08F05B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6248B5-DDCF-9333-6493-34B2AFB6C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693A-C830-4B6A-A6BB-96748E1997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5757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6FDD24-89C2-B21C-1750-9B3573E3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B42296-8D52-E68B-1EAD-86FC79CB8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F159C6-555B-5D91-9B9F-1B9BE8BA5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A5E34-6124-4627-ADB8-07AEDF7878AE}" type="datetimeFigureOut">
              <a:rPr lang="es-CL" smtClean="0"/>
              <a:t>01-04-2026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D2D57B-00B9-995A-5B28-E7FC99638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3D7273-013B-CC11-BE48-567A1AA2E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693A-C830-4B6A-A6BB-96748E1997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46278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85DEA8A-2EA3-3617-6195-04080C1BA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EDBE9DC-E5E2-18EC-BA99-C4FFF9270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D2269-5FA7-3F25-0114-10C98BC83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A5E34-6124-4627-ADB8-07AEDF7878AE}" type="datetimeFigureOut">
              <a:rPr lang="es-CL" smtClean="0"/>
              <a:t>01-04-2026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23BF2A-9988-0D6D-ECAB-12FFEDE64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3DB7B8-8463-49C1-5E1D-212042EAC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693A-C830-4B6A-A6BB-96748E1997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9903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7930AE6-2DE7-E76B-4EE1-EF653FD0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936D60-170F-4769-0C91-F2BBBF40D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726D1F-E12B-45A9-C62E-F8987A7B4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5A5E34-6124-4627-ADB8-07AEDF7878AE}" type="datetimeFigureOut">
              <a:rPr lang="es-CL" smtClean="0"/>
              <a:t>01-04-2026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025F09-6645-DC6E-F7E5-6ED6075E2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2C6E7F-43E7-6CD4-42A8-9B6C4642D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1C693A-C830-4B6A-A6BB-96748E1997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280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4E92F678-5B3E-A87E-4D1B-A770A58D91CA}"/>
              </a:ext>
            </a:extLst>
          </p:cNvPr>
          <p:cNvSpPr/>
          <p:nvPr/>
        </p:nvSpPr>
        <p:spPr>
          <a:xfrm>
            <a:off x="4620021" y="269916"/>
            <a:ext cx="7652128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Gobernanza, Fiscalización y Gestión Territorial de Redes de Telecomunicaciones</a:t>
            </a:r>
            <a:endParaRPr lang="en-US" sz="445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00E9449C-2485-099C-B04F-AFC2F6F9819B}"/>
              </a:ext>
            </a:extLst>
          </p:cNvPr>
          <p:cNvSpPr/>
          <p:nvPr/>
        </p:nvSpPr>
        <p:spPr>
          <a:xfrm>
            <a:off x="4611812" y="3752968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Propuesta de servicios para la </a:t>
            </a: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Ilustre Municipalidad de Estación Central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Implementación comunal de instrumentos normativos, territoriales y procedimentales para la identificación, ordenación, mantención y retiro de líneas y elementos de redes de telecomunicaciones en bienes nacionales de uso público.</a:t>
            </a:r>
            <a:endParaRPr lang="en-US" sz="175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C3F155BA-F232-B8CF-1FB4-B7ADF755E380}"/>
              </a:ext>
            </a:extLst>
          </p:cNvPr>
          <p:cNvSpPr/>
          <p:nvPr/>
        </p:nvSpPr>
        <p:spPr>
          <a:xfrm>
            <a:off x="4611812" y="5830252"/>
            <a:ext cx="1379101" cy="426244"/>
          </a:xfrm>
          <a:prstGeom prst="roundRect">
            <a:avLst>
              <a:gd name="adj" fmla="val 17880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558C92D4-1800-B262-E818-F964B6D96FBB}"/>
              </a:ext>
            </a:extLst>
          </p:cNvPr>
          <p:cNvSpPr/>
          <p:nvPr/>
        </p:nvSpPr>
        <p:spPr>
          <a:xfrm>
            <a:off x="4747900" y="5898236"/>
            <a:ext cx="110692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MARZO 2026</a:t>
            </a:r>
            <a:endParaRPr lang="en-US" sz="140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B460AEDD-DF27-BE05-51C7-96270C8D53F1}"/>
              </a:ext>
            </a:extLst>
          </p:cNvPr>
          <p:cNvSpPr/>
          <p:nvPr/>
        </p:nvSpPr>
        <p:spPr>
          <a:xfrm>
            <a:off x="6104260" y="5822632"/>
            <a:ext cx="2765227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B88E2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804BBA9D-B868-2AD6-D7F8-D8842482B639}"/>
              </a:ext>
            </a:extLst>
          </p:cNvPr>
          <p:cNvSpPr/>
          <p:nvPr/>
        </p:nvSpPr>
        <p:spPr>
          <a:xfrm>
            <a:off x="6247969" y="5898236"/>
            <a:ext cx="247781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 SEMANAS PRORROGABLES</a:t>
            </a:r>
            <a:endParaRPr lang="en-US" sz="14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A486701B-4D14-9468-E456-D80ED2AF286E}"/>
              </a:ext>
            </a:extLst>
          </p:cNvPr>
          <p:cNvSpPr/>
          <p:nvPr/>
        </p:nvSpPr>
        <p:spPr>
          <a:xfrm>
            <a:off x="8982834" y="5822632"/>
            <a:ext cx="1347549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B88E2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157B1312-F94C-FC53-72AE-067698C46FE2}"/>
              </a:ext>
            </a:extLst>
          </p:cNvPr>
          <p:cNvSpPr/>
          <p:nvPr/>
        </p:nvSpPr>
        <p:spPr>
          <a:xfrm>
            <a:off x="9126543" y="5898236"/>
            <a:ext cx="106013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$31.000.000</a:t>
            </a:r>
            <a:endParaRPr lang="en-US" sz="1400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D4016C27-CD0A-BCC7-5CD5-D8156945E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34"/>
          <a:stretch>
            <a:fillRect/>
          </a:stretch>
        </p:blipFill>
        <p:spPr>
          <a:xfrm>
            <a:off x="-2482425" y="0"/>
            <a:ext cx="69505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188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EA90A62C-800B-F8F7-959B-4A2A5411CD2D}"/>
              </a:ext>
            </a:extLst>
          </p:cNvPr>
          <p:cNvSpPr/>
          <p:nvPr/>
        </p:nvSpPr>
        <p:spPr>
          <a:xfrm>
            <a:off x="238045" y="34647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¿Quiénes Somos?</a:t>
            </a:r>
            <a:endParaRPr lang="en-US" sz="44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FB1299F-2394-B945-EC34-39C3E29B114F}"/>
              </a:ext>
            </a:extLst>
          </p:cNvPr>
          <p:cNvSpPr/>
          <p:nvPr/>
        </p:nvSpPr>
        <p:spPr>
          <a:xfrm>
            <a:off x="337458" y="1191339"/>
            <a:ext cx="1170243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Coordenadas Públicas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es una firma especializada en asuntos públicos, regulación sectorial y entorno territorial. Traduce marcos normativos y desafíos institucionales en instrumentos concretos de gestión para instituciones públicas y privadas.</a:t>
            </a:r>
            <a:endParaRPr lang="en-US" sz="175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136D74EB-9289-84B3-330A-E233C1D493D0}"/>
              </a:ext>
            </a:extLst>
          </p:cNvPr>
          <p:cNvSpPr/>
          <p:nvPr/>
        </p:nvSpPr>
        <p:spPr>
          <a:xfrm>
            <a:off x="1054475" y="2647728"/>
            <a:ext cx="10419068" cy="1798003"/>
          </a:xfrm>
          <a:prstGeom prst="roundRect">
            <a:avLst>
              <a:gd name="adj" fmla="val 465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8A5A506-AA2A-0530-0FBC-FA5DD064C1A4}"/>
              </a:ext>
            </a:extLst>
          </p:cNvPr>
          <p:cNvSpPr/>
          <p:nvPr/>
        </p:nvSpPr>
        <p:spPr>
          <a:xfrm>
            <a:off x="1288909" y="2882162"/>
            <a:ext cx="3909325" cy="2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Qué hacemos</a:t>
            </a:r>
            <a:endParaRPr lang="en-US" sz="2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675A808-E170-4FF3-B130-E04F39DADB95}"/>
              </a:ext>
            </a:extLst>
          </p:cNvPr>
          <p:cNvSpPr/>
          <p:nvPr/>
        </p:nvSpPr>
        <p:spPr>
          <a:xfrm>
            <a:off x="1288909" y="3198409"/>
            <a:ext cx="9772576" cy="730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Apoyamos a municipios en diseño de ordenanzas, catastros focalizados, matrices de riesgo, protocolos de fiscalización y hojas de ruta de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implementación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mediante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instrumentos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seguimiento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línea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9B5EB9AC-20E5-1B69-6344-9A74BA55B218}"/>
              </a:ext>
            </a:extLst>
          </p:cNvPr>
          <p:cNvSpPr/>
          <p:nvPr/>
        </p:nvSpPr>
        <p:spPr>
          <a:xfrm>
            <a:off x="1054475" y="4922536"/>
            <a:ext cx="10419068" cy="1129921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DCFF862-19D1-5C28-E970-5678CEA026F0}"/>
              </a:ext>
            </a:extLst>
          </p:cNvPr>
          <p:cNvSpPr/>
          <p:nvPr/>
        </p:nvSpPr>
        <p:spPr>
          <a:xfrm>
            <a:off x="1288909" y="5156970"/>
            <a:ext cx="3909325" cy="2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Nuestro objetivo</a:t>
            </a:r>
            <a:endParaRPr lang="en-US" sz="22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CB6375F-5A09-8589-5AE5-52628272492B}"/>
              </a:ext>
            </a:extLst>
          </p:cNvPr>
          <p:cNvSpPr/>
          <p:nvPr/>
        </p:nvSpPr>
        <p:spPr>
          <a:xfrm>
            <a:off x="1288909" y="5560303"/>
            <a:ext cx="9772576" cy="486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Dejar capacidades e instrumentos utilizables por la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administración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municipal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764366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>
            <a:extLst>
              <a:ext uri="{FF2B5EF4-FFF2-40B4-BE49-F238E27FC236}">
                <a16:creationId xmlns:a16="http://schemas.microsoft.com/office/drawing/2014/main" id="{5BB04485-8D7F-61AE-198C-EED6C06EAC80}"/>
              </a:ext>
            </a:extLst>
          </p:cNvPr>
          <p:cNvSpPr/>
          <p:nvPr/>
        </p:nvSpPr>
        <p:spPr>
          <a:xfrm>
            <a:off x="935367" y="46852"/>
            <a:ext cx="4088249" cy="511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Objeto del Servicio</a:t>
            </a:r>
            <a:endParaRPr lang="en-US" sz="3200" dirty="0"/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A0A5F181-11F8-959F-7DA9-D07002299224}"/>
              </a:ext>
            </a:extLst>
          </p:cNvPr>
          <p:cNvSpPr/>
          <p:nvPr/>
        </p:nvSpPr>
        <p:spPr>
          <a:xfrm>
            <a:off x="454104" y="557868"/>
            <a:ext cx="11283791" cy="45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Apoyar a la Municipalidad durante </a:t>
            </a:r>
            <a:r>
              <a:rPr lang="en-US" sz="12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 semanas</a:t>
            </a: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en la preparación e instalación de instrumentos concretos para gestionar redes de telecomunicaciones en bienes nacionales de uso público.</a:t>
            </a:r>
            <a:endParaRPr lang="en-US" sz="1250" dirty="0"/>
          </a:p>
        </p:txBody>
      </p:sp>
      <p:pic>
        <p:nvPicPr>
          <p:cNvPr id="46" name="Image 0" descr="preencoded.png">
            <a:extLst>
              <a:ext uri="{FF2B5EF4-FFF2-40B4-BE49-F238E27FC236}">
                <a16:creationId xmlns:a16="http://schemas.microsoft.com/office/drawing/2014/main" id="{BFE73E53-61DB-9A89-609B-6F0C6FA05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04" y="1140799"/>
            <a:ext cx="817602" cy="981194"/>
          </a:xfrm>
          <a:prstGeom prst="rect">
            <a:avLst/>
          </a:prstGeom>
        </p:spPr>
      </p:pic>
      <p:sp>
        <p:nvSpPr>
          <p:cNvPr id="47" name="Text 2">
            <a:extLst>
              <a:ext uri="{FF2B5EF4-FFF2-40B4-BE49-F238E27FC236}">
                <a16:creationId xmlns:a16="http://schemas.microsoft.com/office/drawing/2014/main" id="{B3340068-0A4B-5E7E-CFD2-FAC4B90B246A}"/>
              </a:ext>
            </a:extLst>
          </p:cNvPr>
          <p:cNvSpPr/>
          <p:nvPr/>
        </p:nvSpPr>
        <p:spPr>
          <a:xfrm>
            <a:off x="1389578" y="1304271"/>
            <a:ext cx="2049661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Revisión normativa</a:t>
            </a:r>
            <a:endParaRPr lang="en-US" sz="1600" dirty="0"/>
          </a:p>
        </p:txBody>
      </p:sp>
      <p:sp>
        <p:nvSpPr>
          <p:cNvPr id="48" name="Text 3">
            <a:extLst>
              <a:ext uri="{FF2B5EF4-FFF2-40B4-BE49-F238E27FC236}">
                <a16:creationId xmlns:a16="http://schemas.microsoft.com/office/drawing/2014/main" id="{48FAEDD3-EDB2-1785-351D-9F02B9DD7AA6}"/>
              </a:ext>
            </a:extLst>
          </p:cNvPr>
          <p:cNvSpPr/>
          <p:nvPr/>
        </p:nvSpPr>
        <p:spPr>
          <a:xfrm>
            <a:off x="1389578" y="1630503"/>
            <a:ext cx="10348317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Marco comunal y sectorial aplicable</a:t>
            </a:r>
            <a:endParaRPr lang="en-US" sz="1250" dirty="0"/>
          </a:p>
        </p:txBody>
      </p:sp>
      <p:pic>
        <p:nvPicPr>
          <p:cNvPr id="49" name="Image 1" descr="preencoded.png">
            <a:extLst>
              <a:ext uri="{FF2B5EF4-FFF2-40B4-BE49-F238E27FC236}">
                <a16:creationId xmlns:a16="http://schemas.microsoft.com/office/drawing/2014/main" id="{CC2750DF-452A-235D-297E-9BC8CDD4E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04" y="2121993"/>
            <a:ext cx="817602" cy="981194"/>
          </a:xfrm>
          <a:prstGeom prst="rect">
            <a:avLst/>
          </a:prstGeom>
        </p:spPr>
      </p:pic>
      <p:sp>
        <p:nvSpPr>
          <p:cNvPr id="50" name="Text 4">
            <a:extLst>
              <a:ext uri="{FF2B5EF4-FFF2-40B4-BE49-F238E27FC236}">
                <a16:creationId xmlns:a16="http://schemas.microsoft.com/office/drawing/2014/main" id="{ADB08AEC-54A2-62B2-0214-16700285992A}"/>
              </a:ext>
            </a:extLst>
          </p:cNvPr>
          <p:cNvSpPr/>
          <p:nvPr/>
        </p:nvSpPr>
        <p:spPr>
          <a:xfrm>
            <a:off x="1389578" y="2285465"/>
            <a:ext cx="2044065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Ordenanza</a:t>
            </a:r>
            <a:endParaRPr lang="en-US" sz="1600" dirty="0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D2960C1D-81A3-6833-DE26-6A14B6A0C087}"/>
              </a:ext>
            </a:extLst>
          </p:cNvPr>
          <p:cNvSpPr/>
          <p:nvPr/>
        </p:nvSpPr>
        <p:spPr>
          <a:xfrm>
            <a:off x="1389578" y="2611697"/>
            <a:ext cx="10348317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Nueva o adecuación normativa</a:t>
            </a:r>
            <a:endParaRPr lang="en-US" sz="1250" dirty="0"/>
          </a:p>
        </p:txBody>
      </p:sp>
      <p:pic>
        <p:nvPicPr>
          <p:cNvPr id="52" name="Image 2" descr="preencoded.png">
            <a:extLst>
              <a:ext uri="{FF2B5EF4-FFF2-40B4-BE49-F238E27FC236}">
                <a16:creationId xmlns:a16="http://schemas.microsoft.com/office/drawing/2014/main" id="{F0D85649-F8D8-5F22-FCB0-CF82F3353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04" y="3103187"/>
            <a:ext cx="817602" cy="981194"/>
          </a:xfrm>
          <a:prstGeom prst="rect">
            <a:avLst/>
          </a:prstGeom>
        </p:spPr>
      </p:pic>
      <p:sp>
        <p:nvSpPr>
          <p:cNvPr id="53" name="Text 6">
            <a:extLst>
              <a:ext uri="{FF2B5EF4-FFF2-40B4-BE49-F238E27FC236}">
                <a16:creationId xmlns:a16="http://schemas.microsoft.com/office/drawing/2014/main" id="{84B3FC45-8943-FAC3-B75F-DD7FAC68656A}"/>
              </a:ext>
            </a:extLst>
          </p:cNvPr>
          <p:cNvSpPr/>
          <p:nvPr/>
        </p:nvSpPr>
        <p:spPr>
          <a:xfrm>
            <a:off x="1389578" y="3266659"/>
            <a:ext cx="2044065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Fiscalización</a:t>
            </a:r>
            <a:endParaRPr lang="en-US" sz="1600" dirty="0"/>
          </a:p>
        </p:txBody>
      </p:sp>
      <p:sp>
        <p:nvSpPr>
          <p:cNvPr id="54" name="Text 7">
            <a:extLst>
              <a:ext uri="{FF2B5EF4-FFF2-40B4-BE49-F238E27FC236}">
                <a16:creationId xmlns:a16="http://schemas.microsoft.com/office/drawing/2014/main" id="{021112FB-C70C-58E7-24E4-2D2A4902285A}"/>
              </a:ext>
            </a:extLst>
          </p:cNvPr>
          <p:cNvSpPr/>
          <p:nvPr/>
        </p:nvSpPr>
        <p:spPr>
          <a:xfrm>
            <a:off x="1389578" y="3592891"/>
            <a:ext cx="10348317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Herramientas y protocolos internos</a:t>
            </a:r>
            <a:endParaRPr lang="en-US" sz="1250" dirty="0"/>
          </a:p>
        </p:txBody>
      </p:sp>
      <p:pic>
        <p:nvPicPr>
          <p:cNvPr id="55" name="Image 3" descr="preencoded.png">
            <a:extLst>
              <a:ext uri="{FF2B5EF4-FFF2-40B4-BE49-F238E27FC236}">
                <a16:creationId xmlns:a16="http://schemas.microsoft.com/office/drawing/2014/main" id="{62659F94-6DE3-9892-EC83-2FED76390B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104" y="4084381"/>
            <a:ext cx="817602" cy="981194"/>
          </a:xfrm>
          <a:prstGeom prst="rect">
            <a:avLst/>
          </a:prstGeom>
        </p:spPr>
      </p:pic>
      <p:sp>
        <p:nvSpPr>
          <p:cNvPr id="56" name="Text 8">
            <a:extLst>
              <a:ext uri="{FF2B5EF4-FFF2-40B4-BE49-F238E27FC236}">
                <a16:creationId xmlns:a16="http://schemas.microsoft.com/office/drawing/2014/main" id="{CBB227B4-CD50-BC55-D775-B2A9E453330C}"/>
              </a:ext>
            </a:extLst>
          </p:cNvPr>
          <p:cNvSpPr/>
          <p:nvPr/>
        </p:nvSpPr>
        <p:spPr>
          <a:xfrm>
            <a:off x="1389578" y="4247854"/>
            <a:ext cx="2044065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Catastro</a:t>
            </a:r>
            <a:endParaRPr lang="en-US" sz="1600" dirty="0"/>
          </a:p>
        </p:txBody>
      </p:sp>
      <p:sp>
        <p:nvSpPr>
          <p:cNvPr id="57" name="Text 9">
            <a:extLst>
              <a:ext uri="{FF2B5EF4-FFF2-40B4-BE49-F238E27FC236}">
                <a16:creationId xmlns:a16="http://schemas.microsoft.com/office/drawing/2014/main" id="{D15E82DB-8F89-3217-D728-B87382E5F38F}"/>
              </a:ext>
            </a:extLst>
          </p:cNvPr>
          <p:cNvSpPr/>
          <p:nvPr/>
        </p:nvSpPr>
        <p:spPr>
          <a:xfrm>
            <a:off x="1389578" y="4574085"/>
            <a:ext cx="10348317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Puntos críticos georreferenciados</a:t>
            </a:r>
            <a:endParaRPr lang="en-US" sz="1250" dirty="0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9ED7AB6E-E129-C13E-0056-E9D71FAC72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104" y="5065575"/>
            <a:ext cx="817602" cy="981194"/>
          </a:xfrm>
          <a:prstGeom prst="rect">
            <a:avLst/>
          </a:prstGeom>
        </p:spPr>
      </p:pic>
      <p:sp>
        <p:nvSpPr>
          <p:cNvPr id="59" name="Text 10">
            <a:extLst>
              <a:ext uri="{FF2B5EF4-FFF2-40B4-BE49-F238E27FC236}">
                <a16:creationId xmlns:a16="http://schemas.microsoft.com/office/drawing/2014/main" id="{04B96E02-D60F-13B0-32D5-97DCC21846DA}"/>
              </a:ext>
            </a:extLst>
          </p:cNvPr>
          <p:cNvSpPr/>
          <p:nvPr/>
        </p:nvSpPr>
        <p:spPr>
          <a:xfrm>
            <a:off x="1389578" y="5229048"/>
            <a:ext cx="2044065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Capacitación</a:t>
            </a:r>
            <a:endParaRPr lang="en-US" sz="1600" dirty="0"/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CFA30822-1402-7BB4-B0B8-FC3BFD7608E2}"/>
              </a:ext>
            </a:extLst>
          </p:cNvPr>
          <p:cNvSpPr/>
          <p:nvPr/>
        </p:nvSpPr>
        <p:spPr>
          <a:xfrm>
            <a:off x="1389578" y="5555279"/>
            <a:ext cx="10348317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Equipos municipales y hoja de ruta</a:t>
            </a:r>
            <a:endParaRPr lang="en-US" sz="1250" dirty="0"/>
          </a:p>
        </p:txBody>
      </p:sp>
      <p:sp>
        <p:nvSpPr>
          <p:cNvPr id="61" name="Shape 12">
            <a:extLst>
              <a:ext uri="{FF2B5EF4-FFF2-40B4-BE49-F238E27FC236}">
                <a16:creationId xmlns:a16="http://schemas.microsoft.com/office/drawing/2014/main" id="{3BA43B3D-6F10-601C-78D8-EDC793F49FC6}"/>
              </a:ext>
            </a:extLst>
          </p:cNvPr>
          <p:cNvSpPr/>
          <p:nvPr/>
        </p:nvSpPr>
        <p:spPr>
          <a:xfrm>
            <a:off x="454104" y="6179404"/>
            <a:ext cx="11283791" cy="571619"/>
          </a:xfrm>
          <a:prstGeom prst="roundRect">
            <a:avLst>
              <a:gd name="adj" fmla="val 12016"/>
            </a:avLst>
          </a:prstGeom>
          <a:solidFill>
            <a:srgbClr val="F3E4B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2" name="Image 5" descr="preencoded.png">
            <a:extLst>
              <a:ext uri="{FF2B5EF4-FFF2-40B4-BE49-F238E27FC236}">
                <a16:creationId xmlns:a16="http://schemas.microsoft.com/office/drawing/2014/main" id="{CB59EB16-3B1A-E356-6E6D-A9479A2F76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577" y="6400623"/>
            <a:ext cx="204311" cy="163473"/>
          </a:xfrm>
          <a:prstGeom prst="rect">
            <a:avLst/>
          </a:prstGeom>
        </p:spPr>
      </p:pic>
      <p:sp>
        <p:nvSpPr>
          <p:cNvPr id="63" name="Text 13">
            <a:extLst>
              <a:ext uri="{FF2B5EF4-FFF2-40B4-BE49-F238E27FC236}">
                <a16:creationId xmlns:a16="http://schemas.microsoft.com/office/drawing/2014/main" id="{8730DF0C-D72B-B7AE-D874-AE6EB4CAD303}"/>
              </a:ext>
            </a:extLst>
          </p:cNvPr>
          <p:cNvSpPr/>
          <p:nvPr/>
        </p:nvSpPr>
        <p:spPr>
          <a:xfrm>
            <a:off x="985361" y="6338115"/>
            <a:ext cx="10589062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foco es fortalecer la capacidad municipal instalada.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548516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>
            <a:extLst>
              <a:ext uri="{FF2B5EF4-FFF2-40B4-BE49-F238E27FC236}">
                <a16:creationId xmlns:a16="http://schemas.microsoft.com/office/drawing/2014/main" id="{2C981505-AFA1-31E7-2A25-FDEBEB34461B}"/>
              </a:ext>
            </a:extLst>
          </p:cNvPr>
          <p:cNvSpPr/>
          <p:nvPr/>
        </p:nvSpPr>
        <p:spPr>
          <a:xfrm>
            <a:off x="337495" y="159281"/>
            <a:ext cx="1005364" cy="302419"/>
          </a:xfrm>
          <a:prstGeom prst="roundRect">
            <a:avLst>
              <a:gd name="adj" fmla="val 19403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74249E46-C6CB-3936-6758-DDD85AD12A6E}"/>
              </a:ext>
            </a:extLst>
          </p:cNvPr>
          <p:cNvSpPr/>
          <p:nvPr/>
        </p:nvSpPr>
        <p:spPr>
          <a:xfrm>
            <a:off x="448572" y="211668"/>
            <a:ext cx="795814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SERVICIO 4.1</a:t>
            </a:r>
            <a:endParaRPr lang="en-US" sz="110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4F2DC9F4-3D8D-0640-86C7-7321D9312340}"/>
              </a:ext>
            </a:extLst>
          </p:cNvPr>
          <p:cNvSpPr/>
          <p:nvPr/>
        </p:nvSpPr>
        <p:spPr>
          <a:xfrm>
            <a:off x="343797" y="515397"/>
            <a:ext cx="8277939" cy="54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Diagnóstico y Adecuación Normativa</a:t>
            </a:r>
            <a:endParaRPr lang="en-US" sz="340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8C3B252D-595A-8943-03F1-10848B0B4D09}"/>
              </a:ext>
            </a:extLst>
          </p:cNvPr>
          <p:cNvSpPr/>
          <p:nvPr/>
        </p:nvSpPr>
        <p:spPr>
          <a:xfrm>
            <a:off x="7866967" y="2028232"/>
            <a:ext cx="3940493" cy="989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Revisión del marco sectorial y comunal, identificando competencias municipales, criterios de exigibilidad y materias que requieran instrumento local.</a:t>
            </a:r>
            <a:endParaRPr lang="en-US" sz="1350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37742E14-F21E-58A6-7AE8-E050C9D52324}"/>
              </a:ext>
            </a:extLst>
          </p:cNvPr>
          <p:cNvSpPr/>
          <p:nvPr/>
        </p:nvSpPr>
        <p:spPr>
          <a:xfrm>
            <a:off x="7866967" y="3168612"/>
            <a:ext cx="3940493" cy="1375410"/>
          </a:xfrm>
          <a:prstGeom prst="roundRect">
            <a:avLst>
              <a:gd name="adj" fmla="val 5333"/>
            </a:avLst>
          </a:prstGeom>
          <a:solidFill>
            <a:srgbClr val="F3E4B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BFB6D75E-6A08-4664-9103-E7F9C213F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513" y="3416858"/>
            <a:ext cx="218242" cy="174546"/>
          </a:xfrm>
          <a:prstGeom prst="rect">
            <a:avLst/>
          </a:prstGeom>
        </p:spPr>
      </p:pic>
      <p:sp>
        <p:nvSpPr>
          <p:cNvPr id="25" name="Text 5">
            <a:extLst>
              <a:ext uri="{FF2B5EF4-FFF2-40B4-BE49-F238E27FC236}">
                <a16:creationId xmlns:a16="http://schemas.microsoft.com/office/drawing/2014/main" id="{1C7EB252-209B-F90E-E3ED-2F7F8043DDCD}"/>
              </a:ext>
            </a:extLst>
          </p:cNvPr>
          <p:cNvSpPr/>
          <p:nvPr/>
        </p:nvSpPr>
        <p:spPr>
          <a:xfrm>
            <a:off x="8434300" y="3346611"/>
            <a:ext cx="3198614" cy="989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Producto principal:</a:t>
            </a:r>
            <a:r>
              <a:rPr lang="en-US" sz="13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Ordenanza o adecuación normativa, matriz infraccional y set de formatos administrativos.</a:t>
            </a:r>
            <a:endParaRPr lang="en-US" sz="1350" dirty="0"/>
          </a:p>
        </p:txBody>
      </p:sp>
      <p:pic>
        <p:nvPicPr>
          <p:cNvPr id="26" name="Image 2" descr="preencoded.png">
            <a:extLst>
              <a:ext uri="{FF2B5EF4-FFF2-40B4-BE49-F238E27FC236}">
                <a16:creationId xmlns:a16="http://schemas.microsoft.com/office/drawing/2014/main" id="{08780A94-D274-FC56-B2C5-72740595C2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496" y="5175580"/>
            <a:ext cx="261937" cy="261937"/>
          </a:xfrm>
          <a:prstGeom prst="rect">
            <a:avLst/>
          </a:prstGeom>
        </p:spPr>
      </p:pic>
      <p:sp>
        <p:nvSpPr>
          <p:cNvPr id="27" name="Text 6">
            <a:extLst>
              <a:ext uri="{FF2B5EF4-FFF2-40B4-BE49-F238E27FC236}">
                <a16:creationId xmlns:a16="http://schemas.microsoft.com/office/drawing/2014/main" id="{BE0D1C73-005B-34A4-5854-C66C8CAABBB3}"/>
              </a:ext>
            </a:extLst>
          </p:cNvPr>
          <p:cNvSpPr/>
          <p:nvPr/>
        </p:nvSpPr>
        <p:spPr>
          <a:xfrm>
            <a:off x="991463" y="5170222"/>
            <a:ext cx="5373410" cy="54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Elaboración de nueva ordenanza o adecuación normativa</a:t>
            </a:r>
            <a:endParaRPr lang="en-US" sz="1700" dirty="0"/>
          </a:p>
        </p:txBody>
      </p:sp>
      <p:pic>
        <p:nvPicPr>
          <p:cNvPr id="28" name="Image 3" descr="preencoded.png">
            <a:extLst>
              <a:ext uri="{FF2B5EF4-FFF2-40B4-BE49-F238E27FC236}">
                <a16:creationId xmlns:a16="http://schemas.microsoft.com/office/drawing/2014/main" id="{4B46AF9D-AA60-2614-F0EA-D417551E07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8354" y="5175580"/>
            <a:ext cx="261937" cy="261937"/>
          </a:xfrm>
          <a:prstGeom prst="rect">
            <a:avLst/>
          </a:prstGeom>
        </p:spPr>
      </p:pic>
      <p:sp>
        <p:nvSpPr>
          <p:cNvPr id="29" name="Text 7">
            <a:extLst>
              <a:ext uri="{FF2B5EF4-FFF2-40B4-BE49-F238E27FC236}">
                <a16:creationId xmlns:a16="http://schemas.microsoft.com/office/drawing/2014/main" id="{3CD5D98B-1784-571E-2498-59C6123995F6}"/>
              </a:ext>
            </a:extLst>
          </p:cNvPr>
          <p:cNvSpPr/>
          <p:nvPr/>
        </p:nvSpPr>
        <p:spPr>
          <a:xfrm>
            <a:off x="7100322" y="5170222"/>
            <a:ext cx="5373410" cy="54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Jornadas con autoridades, concejalías y comunidad</a:t>
            </a:r>
            <a:endParaRPr lang="en-US" sz="1700" dirty="0"/>
          </a:p>
        </p:txBody>
      </p:sp>
      <p:pic>
        <p:nvPicPr>
          <p:cNvPr id="30" name="Image 4" descr="preencoded.png">
            <a:extLst>
              <a:ext uri="{FF2B5EF4-FFF2-40B4-BE49-F238E27FC236}">
                <a16:creationId xmlns:a16="http://schemas.microsoft.com/office/drawing/2014/main" id="{70E79998-CD84-67E9-D47B-46A640501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496" y="5989968"/>
            <a:ext cx="261937" cy="26193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60A523F7-80DF-323B-9DFE-566E8CA74045}"/>
              </a:ext>
            </a:extLst>
          </p:cNvPr>
          <p:cNvSpPr/>
          <p:nvPr/>
        </p:nvSpPr>
        <p:spPr>
          <a:xfrm>
            <a:off x="991463" y="5984610"/>
            <a:ext cx="5373410" cy="54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Diseño de matriz infraccional y criterios de aplicación</a:t>
            </a:r>
            <a:endParaRPr lang="en-US" sz="1700" dirty="0"/>
          </a:p>
        </p:txBody>
      </p:sp>
      <p:pic>
        <p:nvPicPr>
          <p:cNvPr id="32" name="Image 5" descr="preencoded.png">
            <a:extLst>
              <a:ext uri="{FF2B5EF4-FFF2-40B4-BE49-F238E27FC236}">
                <a16:creationId xmlns:a16="http://schemas.microsoft.com/office/drawing/2014/main" id="{3E069789-9468-F1EB-ECF5-2EF470241D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8354" y="5989968"/>
            <a:ext cx="261937" cy="261937"/>
          </a:xfrm>
          <a:prstGeom prst="rect">
            <a:avLst/>
          </a:prstGeom>
        </p:spPr>
      </p:pic>
      <p:sp>
        <p:nvSpPr>
          <p:cNvPr id="33" name="Text 9">
            <a:extLst>
              <a:ext uri="{FF2B5EF4-FFF2-40B4-BE49-F238E27FC236}">
                <a16:creationId xmlns:a16="http://schemas.microsoft.com/office/drawing/2014/main" id="{ADFF2961-0584-7225-5F69-5B74DD3DF0CC}"/>
              </a:ext>
            </a:extLst>
          </p:cNvPr>
          <p:cNvSpPr/>
          <p:nvPr/>
        </p:nvSpPr>
        <p:spPr>
          <a:xfrm>
            <a:off x="7100322" y="5984610"/>
            <a:ext cx="4182308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Formatos y actos administrativos tipo</a:t>
            </a:r>
            <a:endParaRPr lang="en-US" sz="1700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407CF576-64C9-69BE-62DE-42C52AA1F0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433" y="1259508"/>
            <a:ext cx="2492510" cy="3112537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00B5A6F5-691D-2C5D-CE57-30935C5813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974" y="1275122"/>
            <a:ext cx="2492510" cy="311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8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3A2DA73-C0F6-F796-992B-C3A935A7A69E}"/>
              </a:ext>
            </a:extLst>
          </p:cNvPr>
          <p:cNvSpPr/>
          <p:nvPr/>
        </p:nvSpPr>
        <p:spPr>
          <a:xfrm>
            <a:off x="153131" y="1748008"/>
            <a:ext cx="1357551" cy="426244"/>
          </a:xfrm>
          <a:prstGeom prst="roundRect">
            <a:avLst>
              <a:gd name="adj" fmla="val 17880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BCA60DC-5070-D03C-F8F5-294447C4934B}"/>
              </a:ext>
            </a:extLst>
          </p:cNvPr>
          <p:cNvSpPr/>
          <p:nvPr/>
        </p:nvSpPr>
        <p:spPr>
          <a:xfrm>
            <a:off x="289219" y="1797726"/>
            <a:ext cx="108537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SERVICIO 4.2</a:t>
            </a:r>
            <a:endParaRPr lang="en-US" sz="14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064AA05-F8AB-F535-B91D-F1E12C16D216}"/>
              </a:ext>
            </a:extLst>
          </p:cNvPr>
          <p:cNvSpPr/>
          <p:nvPr/>
        </p:nvSpPr>
        <p:spPr>
          <a:xfrm>
            <a:off x="297420" y="121528"/>
            <a:ext cx="6379607" cy="167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Catastro Territorial 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Focalizado</a:t>
            </a:r>
            <a:endParaRPr lang="en-US" sz="44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D878676-0D6A-7102-EAE8-505D2F24C03E}"/>
              </a:ext>
            </a:extLst>
          </p:cNvPr>
          <p:cNvSpPr/>
          <p:nvPr/>
        </p:nvSpPr>
        <p:spPr>
          <a:xfrm>
            <a:off x="153131" y="2410861"/>
            <a:ext cx="555371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Levantamiento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actual de puntos críticos en polígonos definidos con la contraparte municipal, con clasificación por criticidad, exposición y prioridad territorial. Incluye visor comunal georreferenciado.</a:t>
            </a:r>
            <a:endParaRPr lang="en-US" sz="17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B300897-122B-35D5-B36F-65D1A7405395}"/>
              </a:ext>
            </a:extLst>
          </p:cNvPr>
          <p:cNvSpPr/>
          <p:nvPr/>
        </p:nvSpPr>
        <p:spPr>
          <a:xfrm>
            <a:off x="-25360" y="4936161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3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570</a:t>
            </a:r>
            <a:endParaRPr lang="en-US" sz="3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0A0E54C-682C-0C54-E886-B6F8CC7C21C8}"/>
              </a:ext>
            </a:extLst>
          </p:cNvPr>
          <p:cNvSpPr/>
          <p:nvPr/>
        </p:nvSpPr>
        <p:spPr>
          <a:xfrm>
            <a:off x="80963" y="57393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Puntos totales</a:t>
            </a:r>
            <a:endParaRPr lang="en-US" sz="22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919D977-29A4-964C-8A56-C741BFBF8A2E}"/>
              </a:ext>
            </a:extLst>
          </p:cNvPr>
          <p:cNvSpPr/>
          <p:nvPr/>
        </p:nvSpPr>
        <p:spPr>
          <a:xfrm>
            <a:off x="-25360" y="6096425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Elementos de red identificados</a:t>
            </a:r>
            <a:endParaRPr lang="en-US" sz="175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9F9D373-7D46-AF18-6F18-F430A1235A75}"/>
              </a:ext>
            </a:extLst>
          </p:cNvPr>
          <p:cNvSpPr/>
          <p:nvPr/>
        </p:nvSpPr>
        <p:spPr>
          <a:xfrm>
            <a:off x="2639378" y="4936161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3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16</a:t>
            </a:r>
            <a:endParaRPr lang="en-US" sz="36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4DCE7CFF-419F-1ADB-6E6B-D1D74AB78DD1}"/>
              </a:ext>
            </a:extLst>
          </p:cNvPr>
          <p:cNvSpPr/>
          <p:nvPr/>
        </p:nvSpPr>
        <p:spPr>
          <a:xfrm>
            <a:off x="2639378" y="57393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Riesgo inminente</a:t>
            </a:r>
            <a:endParaRPr lang="en-US" sz="22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33633848-22F9-AC10-6936-0881503CA42D}"/>
              </a:ext>
            </a:extLst>
          </p:cNvPr>
          <p:cNvSpPr/>
          <p:nvPr/>
        </p:nvSpPr>
        <p:spPr>
          <a:xfrm>
            <a:off x="2467928" y="6096425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Exposición eléctrica o colapso estructural</a:t>
            </a:r>
            <a:endParaRPr lang="en-US" sz="175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F77517D3-0C26-9EB9-DD7B-CB2A438BF378}"/>
              </a:ext>
            </a:extLst>
          </p:cNvPr>
          <p:cNvSpPr/>
          <p:nvPr/>
        </p:nvSpPr>
        <p:spPr>
          <a:xfrm>
            <a:off x="5970984" y="4936161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3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34</a:t>
            </a:r>
            <a:endParaRPr lang="en-US" sz="36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E0A0F4A-A6C0-7A98-1094-36285D10BC20}"/>
              </a:ext>
            </a:extLst>
          </p:cNvPr>
          <p:cNvSpPr/>
          <p:nvPr/>
        </p:nvSpPr>
        <p:spPr>
          <a:xfrm>
            <a:off x="5970985" y="57393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Riesgo claro</a:t>
            </a:r>
            <a:endParaRPr lang="en-US" sz="2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98E0365B-E1D7-C201-6A0E-75D27D821685}"/>
              </a:ext>
            </a:extLst>
          </p:cNvPr>
          <p:cNvSpPr/>
          <p:nvPr/>
        </p:nvSpPr>
        <p:spPr>
          <a:xfrm>
            <a:off x="5799534" y="6096425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Caída de objetos, acceso inestable</a:t>
            </a:r>
            <a:endParaRPr lang="en-US" sz="175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D768E14D-71DA-1173-D6AD-7B0FDCD90B30}"/>
              </a:ext>
            </a:extLst>
          </p:cNvPr>
          <p:cNvSpPr/>
          <p:nvPr/>
        </p:nvSpPr>
        <p:spPr>
          <a:xfrm>
            <a:off x="9302591" y="4936161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3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100</a:t>
            </a:r>
            <a:endParaRPr lang="en-US" sz="36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0713C1D6-CAD8-D128-B055-F618FA4D291F}"/>
              </a:ext>
            </a:extLst>
          </p:cNvPr>
          <p:cNvSpPr/>
          <p:nvPr/>
        </p:nvSpPr>
        <p:spPr>
          <a:xfrm>
            <a:off x="9299496" y="5739357"/>
            <a:ext cx="28414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Abandono evidente</a:t>
            </a:r>
            <a:endParaRPr lang="en-US" sz="22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A0C95A38-865F-7136-7F87-F43CD71CFB45}"/>
              </a:ext>
            </a:extLst>
          </p:cNvPr>
          <p:cNvSpPr/>
          <p:nvPr/>
        </p:nvSpPr>
        <p:spPr>
          <a:xfrm>
            <a:off x="9131141" y="6096425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Acumulación o desuso grave</a:t>
            </a:r>
            <a:endParaRPr lang="en-US" sz="1750" dirty="0"/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AE4C9A32-0AB2-17F5-A3B9-630AF048D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890399"/>
            <a:ext cx="5813575" cy="4052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3">
            <a:extLst>
              <a:ext uri="{FF2B5EF4-FFF2-40B4-BE49-F238E27FC236}">
                <a16:creationId xmlns:a16="http://schemas.microsoft.com/office/drawing/2014/main" id="{0F2EF9A9-78C7-E2E9-1635-EFFCA82FBD79}"/>
              </a:ext>
            </a:extLst>
          </p:cNvPr>
          <p:cNvSpPr/>
          <p:nvPr/>
        </p:nvSpPr>
        <p:spPr>
          <a:xfrm>
            <a:off x="6677027" y="384199"/>
            <a:ext cx="6379607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</a:rPr>
              <a:t>* </a:t>
            </a:r>
            <a:r>
              <a:rPr lang="en-US" sz="1000" dirty="0" err="1">
                <a:solidFill>
                  <a:srgbClr val="454240"/>
                </a:solidFill>
                <a:latin typeface="DM Sans" pitchFamily="34" charset="0"/>
              </a:rPr>
              <a:t>Información</a:t>
            </a:r>
            <a:r>
              <a:rPr lang="en-US" sz="1000" dirty="0">
                <a:solidFill>
                  <a:srgbClr val="454240"/>
                </a:solidFill>
                <a:latin typeface="DM Sans" pitchFamily="34" charset="0"/>
              </a:rPr>
              <a:t> </a:t>
            </a:r>
            <a:r>
              <a:rPr lang="en-US" sz="1000" dirty="0" err="1">
                <a:solidFill>
                  <a:srgbClr val="454240"/>
                </a:solidFill>
                <a:latin typeface="DM Sans" pitchFamily="34" charset="0"/>
              </a:rPr>
              <a:t>georreferenciada</a:t>
            </a:r>
            <a:r>
              <a:rPr lang="en-US" sz="1000" dirty="0">
                <a:solidFill>
                  <a:srgbClr val="454240"/>
                </a:solidFill>
                <a:latin typeface="DM Sans" pitchFamily="34" charset="0"/>
              </a:rPr>
              <a:t> a fines de 2025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20918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458EFC19-FA30-0A63-8021-21B6CE65DBF2}"/>
              </a:ext>
            </a:extLst>
          </p:cNvPr>
          <p:cNvSpPr/>
          <p:nvPr/>
        </p:nvSpPr>
        <p:spPr>
          <a:xfrm>
            <a:off x="691515" y="236317"/>
            <a:ext cx="2666286" cy="354925"/>
          </a:xfrm>
          <a:prstGeom prst="roundRect">
            <a:avLst>
              <a:gd name="adj" fmla="val 18706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553C9C4-F100-E5BE-1C85-978D069EBC51}"/>
              </a:ext>
            </a:extLst>
          </p:cNvPr>
          <p:cNvSpPr/>
          <p:nvPr/>
        </p:nvSpPr>
        <p:spPr>
          <a:xfrm>
            <a:off x="809982" y="295491"/>
            <a:ext cx="2429351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SERVICIO 4.2 — VISOR COMUNAL</a:t>
            </a:r>
            <a:endParaRPr lang="en-US" sz="12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51D3EF82-28AB-C5D4-7286-A0D06902DAA9}"/>
              </a:ext>
            </a:extLst>
          </p:cNvPr>
          <p:cNvSpPr/>
          <p:nvPr/>
        </p:nvSpPr>
        <p:spPr>
          <a:xfrm>
            <a:off x="256087" y="569811"/>
            <a:ext cx="9465588" cy="617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Distribución de Puntos </a:t>
            </a:r>
            <a:r>
              <a:rPr lang="en-US" sz="3850" dirty="0" err="1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por</a:t>
            </a:r>
            <a:r>
              <a:rPr lang="en-US" sz="3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</a:t>
            </a:r>
            <a:r>
              <a:rPr lang="en-US" sz="3850" dirty="0" err="1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Operador</a:t>
            </a:r>
            <a:r>
              <a:rPr lang="en-US" sz="3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</a:t>
            </a:r>
            <a:r>
              <a:rPr lang="en-US" sz="3850" dirty="0" err="1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acorde</a:t>
            </a:r>
            <a:r>
              <a:rPr lang="en-US" sz="3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a</a:t>
            </a:r>
          </a:p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</a:t>
            </a:r>
            <a:r>
              <a:rPr lang="en-US" sz="3850" dirty="0" err="1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levantamiento</a:t>
            </a:r>
            <a:r>
              <a:rPr lang="en-US" sz="3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actual</a:t>
            </a:r>
            <a:endParaRPr lang="en-US" sz="38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CCC8D4D-06B2-A2D9-453A-A0521B645772}"/>
              </a:ext>
            </a:extLst>
          </p:cNvPr>
          <p:cNvSpPr/>
          <p:nvPr/>
        </p:nvSpPr>
        <p:spPr>
          <a:xfrm>
            <a:off x="1322452" y="5410877"/>
            <a:ext cx="9547095" cy="887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Claro/VT concentra el mayor volumen con 156 puntos, seguido de HOLDOO y Telefónica con 100 cada uno. El visor comunal permite gestión en tiempo real de elementos de red y basura aérea.</a:t>
            </a:r>
            <a:endParaRPr lang="en-US" sz="155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1052CB7A-95BA-1315-FE3F-9944463E6BD0}"/>
              </a:ext>
            </a:extLst>
          </p:cNvPr>
          <p:cNvSpPr/>
          <p:nvPr/>
        </p:nvSpPr>
        <p:spPr>
          <a:xfrm>
            <a:off x="2612247" y="6011720"/>
            <a:ext cx="6382703" cy="1362194"/>
          </a:xfrm>
          <a:prstGeom prst="roundRect">
            <a:avLst>
              <a:gd name="adj" fmla="val 6092"/>
            </a:avLst>
          </a:prstGeom>
          <a:solidFill>
            <a:srgbClr val="F3E4B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836E61C9-5322-D5BC-DADE-85AF9DB74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247" y="6090664"/>
            <a:ext cx="246936" cy="197525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724FFA1D-C6A1-FF2B-38B7-79FEA8C31E8E}"/>
              </a:ext>
            </a:extLst>
          </p:cNvPr>
          <p:cNvSpPr/>
          <p:nvPr/>
        </p:nvSpPr>
        <p:spPr>
          <a:xfrm>
            <a:off x="3254232" y="6102429"/>
            <a:ext cx="5543193" cy="887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Producto principal:</a:t>
            </a: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Catastro georreferenciado, fichas de respaldo y matriz de priorización para la toma de decisiones.</a:t>
            </a:r>
            <a:endParaRPr lang="en-US" sz="1550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12113F99-92EA-5FDD-49EA-9E6DB41D5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656" y="1902352"/>
            <a:ext cx="7408788" cy="3394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2282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8A816C01-BF7D-6196-0645-5CB51D6E12E6}"/>
              </a:ext>
            </a:extLst>
          </p:cNvPr>
          <p:cNvSpPr/>
          <p:nvPr/>
        </p:nvSpPr>
        <p:spPr>
          <a:xfrm>
            <a:off x="303933" y="377888"/>
            <a:ext cx="1923098" cy="426244"/>
          </a:xfrm>
          <a:prstGeom prst="roundRect">
            <a:avLst>
              <a:gd name="adj" fmla="val 17880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89A5C50-CE2A-F2EB-A0D6-4F795B955A1D}"/>
              </a:ext>
            </a:extLst>
          </p:cNvPr>
          <p:cNvSpPr/>
          <p:nvPr/>
        </p:nvSpPr>
        <p:spPr>
          <a:xfrm>
            <a:off x="440021" y="445873"/>
            <a:ext cx="16509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SERVICIOS 4.3 Y 4.4</a:t>
            </a:r>
            <a:endParaRPr lang="en-US" sz="14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4E2E7E56-C7A2-1BAA-65F3-C9ABF365D03D}"/>
              </a:ext>
            </a:extLst>
          </p:cNvPr>
          <p:cNvSpPr/>
          <p:nvPr/>
        </p:nvSpPr>
        <p:spPr>
          <a:xfrm>
            <a:off x="303933" y="894857"/>
            <a:ext cx="101199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Protocolos Internos y Capacitación</a:t>
            </a:r>
            <a:endParaRPr lang="en-US" sz="44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90CE323-301E-8F24-38E1-17CA305AD3B3}"/>
              </a:ext>
            </a:extLst>
          </p:cNvPr>
          <p:cNvSpPr/>
          <p:nvPr/>
        </p:nvSpPr>
        <p:spPr>
          <a:xfrm>
            <a:off x="303933" y="2170612"/>
            <a:ext cx="36724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Protocolos y seguimiento</a:t>
            </a:r>
            <a:endParaRPr lang="en-US" sz="2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1116BA4-82B3-E3AB-E64D-633EAF5174EF}"/>
              </a:ext>
            </a:extLst>
          </p:cNvPr>
          <p:cNvSpPr/>
          <p:nvPr/>
        </p:nvSpPr>
        <p:spPr>
          <a:xfrm>
            <a:off x="303933" y="2751756"/>
            <a:ext cx="6244709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Flujo interdirecciones: detección → requerimiento → fiscalización → seguimiento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Roles definidos entre inspección, jurídica y áreas de apoyo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Canales de comunicación según normativa SUBTEL vigente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Tablero inicial de seguimiento para uso interno</a:t>
            </a:r>
            <a:endParaRPr lang="en-US" sz="17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3B5F1BD-3262-2824-94F9-7E00E6C872F9}"/>
              </a:ext>
            </a:extLst>
          </p:cNvPr>
          <p:cNvSpPr/>
          <p:nvPr/>
        </p:nvSpPr>
        <p:spPr>
          <a:xfrm>
            <a:off x="7109664" y="2170612"/>
            <a:ext cx="46028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Capacitación e implementación</a:t>
            </a:r>
            <a:endParaRPr lang="en-US" sz="22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171B8C8-BC3D-12ED-5EB5-3537C4C9491F}"/>
              </a:ext>
            </a:extLst>
          </p:cNvPr>
          <p:cNvSpPr/>
          <p:nvPr/>
        </p:nvSpPr>
        <p:spPr>
          <a:xfrm>
            <a:off x="7109665" y="2751756"/>
            <a:ext cx="4864622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Jornadas de capacitación aplicada a equipos municipales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Revisión final de instrumentos y ajustes de consistencia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Acompañamiento en puesta en marcha inicial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Informe de cierre y hoja de ruta de implementación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060782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0AFADFCB-4D1F-E63C-000F-CA42D5D00C49}"/>
              </a:ext>
            </a:extLst>
          </p:cNvPr>
          <p:cNvSpPr/>
          <p:nvPr/>
        </p:nvSpPr>
        <p:spPr>
          <a:xfrm>
            <a:off x="1502226" y="0"/>
            <a:ext cx="80655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Forma de Ejecución — 16 Semanas</a:t>
            </a:r>
            <a:endParaRPr lang="en-US" sz="445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F849100F-F040-FD25-D1B2-E53B0C0A6759}"/>
              </a:ext>
            </a:extLst>
          </p:cNvPr>
          <p:cNvSpPr/>
          <p:nvPr/>
        </p:nvSpPr>
        <p:spPr>
          <a:xfrm>
            <a:off x="1" y="3648789"/>
            <a:ext cx="10405522" cy="30480"/>
          </a:xfrm>
          <a:prstGeom prst="roundRect">
            <a:avLst>
              <a:gd name="adj" fmla="val 312558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1E72B953-7E4D-FAB5-8FC9-D8203618169C}"/>
              </a:ext>
            </a:extLst>
          </p:cNvPr>
          <p:cNvSpPr/>
          <p:nvPr/>
        </p:nvSpPr>
        <p:spPr>
          <a:xfrm>
            <a:off x="2508169" y="2968347"/>
            <a:ext cx="45719" cy="680442"/>
          </a:xfrm>
          <a:prstGeom prst="roundRect">
            <a:avLst>
              <a:gd name="adj" fmla="val 312558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1A6C52CC-FE29-8602-2BB2-AF5845531B4F}"/>
              </a:ext>
            </a:extLst>
          </p:cNvPr>
          <p:cNvSpPr/>
          <p:nvPr/>
        </p:nvSpPr>
        <p:spPr>
          <a:xfrm>
            <a:off x="2268259" y="3393638"/>
            <a:ext cx="407117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E693CFA-61A6-EDCD-2D8D-A3908235B00E}"/>
              </a:ext>
            </a:extLst>
          </p:cNvPr>
          <p:cNvSpPr/>
          <p:nvPr/>
        </p:nvSpPr>
        <p:spPr>
          <a:xfrm>
            <a:off x="2353330" y="3436144"/>
            <a:ext cx="27138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FD8B0BE-03E7-2586-1A00-697CF063E003}"/>
              </a:ext>
            </a:extLst>
          </p:cNvPr>
          <p:cNvSpPr/>
          <p:nvPr/>
        </p:nvSpPr>
        <p:spPr>
          <a:xfrm>
            <a:off x="970954" y="1162407"/>
            <a:ext cx="24770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Fase 1 — Semanas 1-4</a:t>
            </a:r>
            <a:endParaRPr lang="en-US" sz="22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BCB050E-D38E-FEB2-08F8-277668DDBBB3}"/>
              </a:ext>
            </a:extLst>
          </p:cNvPr>
          <p:cNvSpPr/>
          <p:nvPr/>
        </p:nvSpPr>
        <p:spPr>
          <a:xfrm>
            <a:off x="226814" y="1652825"/>
            <a:ext cx="36645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Revisión de antecedentes, levantamiento inicial y definición de alcance con la contraparte.</a:t>
            </a:r>
            <a:endParaRPr lang="en-US" sz="175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A12980F4-D585-8CDB-386E-682F5D37969A}"/>
              </a:ext>
            </a:extLst>
          </p:cNvPr>
          <p:cNvSpPr/>
          <p:nvPr/>
        </p:nvSpPr>
        <p:spPr>
          <a:xfrm>
            <a:off x="5173502" y="3648789"/>
            <a:ext cx="45719" cy="680442"/>
          </a:xfrm>
          <a:prstGeom prst="roundRect">
            <a:avLst>
              <a:gd name="adj" fmla="val 312558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69EF1F33-3A3F-5F2E-1AF2-7CD9C5D10E98}"/>
              </a:ext>
            </a:extLst>
          </p:cNvPr>
          <p:cNvSpPr/>
          <p:nvPr/>
        </p:nvSpPr>
        <p:spPr>
          <a:xfrm>
            <a:off x="4933592" y="3393638"/>
            <a:ext cx="407117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1FD2297-B09E-07B3-3CE0-6F004E9763D8}"/>
              </a:ext>
            </a:extLst>
          </p:cNvPr>
          <p:cNvSpPr/>
          <p:nvPr/>
        </p:nvSpPr>
        <p:spPr>
          <a:xfrm>
            <a:off x="5018663" y="3436144"/>
            <a:ext cx="27138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12517CA-0C58-4A34-48F1-3E9E4F8777D2}"/>
              </a:ext>
            </a:extLst>
          </p:cNvPr>
          <p:cNvSpPr/>
          <p:nvPr/>
        </p:nvSpPr>
        <p:spPr>
          <a:xfrm>
            <a:off x="3506628" y="4556045"/>
            <a:ext cx="26839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Fase 2 — Semanas 3-10</a:t>
            </a:r>
            <a:endParaRPr lang="en-US" sz="22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0CC84D61-7C00-1A34-602F-B7580355188F}"/>
              </a:ext>
            </a:extLst>
          </p:cNvPr>
          <p:cNvSpPr/>
          <p:nvPr/>
        </p:nvSpPr>
        <p:spPr>
          <a:xfrm>
            <a:off x="2870257" y="4871321"/>
            <a:ext cx="36646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Propuesta normativa, matriz infraccional, catastro focalizado y fichas territoriales.</a:t>
            </a:r>
            <a:endParaRPr lang="en-US" sz="175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4036A802-D5C6-AC1B-DF6A-610370359394}"/>
              </a:ext>
            </a:extLst>
          </p:cNvPr>
          <p:cNvSpPr/>
          <p:nvPr/>
        </p:nvSpPr>
        <p:spPr>
          <a:xfrm>
            <a:off x="7838717" y="2968347"/>
            <a:ext cx="45719" cy="680442"/>
          </a:xfrm>
          <a:prstGeom prst="roundRect">
            <a:avLst>
              <a:gd name="adj" fmla="val 312558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D5414174-FD24-9038-3C58-6C176E65DAD0}"/>
              </a:ext>
            </a:extLst>
          </p:cNvPr>
          <p:cNvSpPr/>
          <p:nvPr/>
        </p:nvSpPr>
        <p:spPr>
          <a:xfrm>
            <a:off x="7598807" y="3393638"/>
            <a:ext cx="407117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C4403CE5-DB3A-94EB-F722-2F7E216CA7EB}"/>
              </a:ext>
            </a:extLst>
          </p:cNvPr>
          <p:cNvSpPr/>
          <p:nvPr/>
        </p:nvSpPr>
        <p:spPr>
          <a:xfrm>
            <a:off x="7683877" y="3436144"/>
            <a:ext cx="27138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65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DEFD563A-9ACA-339C-6124-FCA4D3C571FA}"/>
              </a:ext>
            </a:extLst>
          </p:cNvPr>
          <p:cNvSpPr/>
          <p:nvPr/>
        </p:nvSpPr>
        <p:spPr>
          <a:xfrm>
            <a:off x="6204466" y="1162407"/>
            <a:ext cx="26319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Fase 3 — Semanas 7-13</a:t>
            </a:r>
            <a:endParaRPr lang="en-US" sz="22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8223B72B-5E15-82EB-ABB4-BB93510D6755}"/>
              </a:ext>
            </a:extLst>
          </p:cNvPr>
          <p:cNvSpPr/>
          <p:nvPr/>
        </p:nvSpPr>
        <p:spPr>
          <a:xfrm>
            <a:off x="5557242" y="1652825"/>
            <a:ext cx="36646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Protocolos internos, expedientes de fiscalización, tablero y validación.</a:t>
            </a:r>
            <a:endParaRPr lang="en-US" sz="175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EEF0883C-CAFE-A031-C009-BF9CE677DEBC}"/>
              </a:ext>
            </a:extLst>
          </p:cNvPr>
          <p:cNvSpPr/>
          <p:nvPr/>
        </p:nvSpPr>
        <p:spPr>
          <a:xfrm>
            <a:off x="10504050" y="3648789"/>
            <a:ext cx="45719" cy="680442"/>
          </a:xfrm>
          <a:prstGeom prst="roundRect">
            <a:avLst>
              <a:gd name="adj" fmla="val 312558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6E5CFDCA-30D8-CF99-7CC9-086E4BD8650B}"/>
              </a:ext>
            </a:extLst>
          </p:cNvPr>
          <p:cNvSpPr/>
          <p:nvPr/>
        </p:nvSpPr>
        <p:spPr>
          <a:xfrm>
            <a:off x="10264140" y="3393638"/>
            <a:ext cx="407117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51AF262F-81DA-D14C-C617-F1CDE3BD2CBE}"/>
              </a:ext>
            </a:extLst>
          </p:cNvPr>
          <p:cNvSpPr/>
          <p:nvPr/>
        </p:nvSpPr>
        <p:spPr>
          <a:xfrm>
            <a:off x="10349210" y="3436144"/>
            <a:ext cx="27138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65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F73314C3-7D5D-95E4-8B85-198D3D3D240A}"/>
              </a:ext>
            </a:extLst>
          </p:cNvPr>
          <p:cNvSpPr/>
          <p:nvPr/>
        </p:nvSpPr>
        <p:spPr>
          <a:xfrm>
            <a:off x="8788360" y="4556045"/>
            <a:ext cx="27617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Fase 4 — Semanas 12-16</a:t>
            </a:r>
            <a:endParaRPr lang="en-US" sz="22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C136AD58-A247-C78B-657C-5CA158F2ACCF}"/>
              </a:ext>
            </a:extLst>
          </p:cNvPr>
          <p:cNvSpPr/>
          <p:nvPr/>
        </p:nvSpPr>
        <p:spPr>
          <a:xfrm>
            <a:off x="8189918" y="4910375"/>
            <a:ext cx="36646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Capacitación, ajustes finales, informe de cierre y hoja de ruta.</a:t>
            </a:r>
            <a:endParaRPr lang="en-US" sz="175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E01C6A6B-90DD-0773-5745-A1C75C85E86F}"/>
              </a:ext>
            </a:extLst>
          </p:cNvPr>
          <p:cNvSpPr/>
          <p:nvPr/>
        </p:nvSpPr>
        <p:spPr>
          <a:xfrm>
            <a:off x="620188" y="6096118"/>
            <a:ext cx="90339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calendario es referencial y puede ajustarse según disponibilidad de información y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procesos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internos del municipio.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470551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98800" y="143708"/>
            <a:ext cx="7969163" cy="682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Marco Normativo y Oferta Económica</a:t>
            </a:r>
            <a:endParaRPr lang="en-US" sz="4300" dirty="0"/>
          </a:p>
        </p:txBody>
      </p:sp>
      <p:sp>
        <p:nvSpPr>
          <p:cNvPr id="5" name="Text 1"/>
          <p:cNvSpPr/>
          <p:nvPr/>
        </p:nvSpPr>
        <p:spPr>
          <a:xfrm>
            <a:off x="198800" y="1352907"/>
            <a:ext cx="3146757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Marco normativo considerado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198800" y="1904762"/>
            <a:ext cx="4655000" cy="2696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Ley N° 18.168:</a:t>
            </a: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Marco sectorial de telecomunicaciones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Ley N° 21.172:</a:t>
            </a: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Identificación, mantención y retiro de elementos de red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Decreto N° 176:</a:t>
            </a: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Plan de gestión de líneas aéreas y subterráneas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Ley N° 18.695:</a:t>
            </a: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Potestad reglamentaria comunal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Normativa SUBTEL:</a:t>
            </a: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Criterios técnicos de gestión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7023343" y="1352907"/>
            <a:ext cx="2877567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Distribución presupuestaria</a:t>
            </a:r>
            <a:endParaRPr lang="en-US" sz="21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3343" y="1931075"/>
            <a:ext cx="4657028" cy="357337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158914" y="5464374"/>
            <a:ext cx="5282760" cy="1249918"/>
          </a:xfrm>
          <a:prstGeom prst="roundRect">
            <a:avLst>
              <a:gd name="adj" fmla="val 7343"/>
            </a:avLst>
          </a:prstGeom>
          <a:solidFill>
            <a:srgbClr val="F3E4B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7394" y="5648498"/>
            <a:ext cx="229619" cy="218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869003" y="5587895"/>
            <a:ext cx="4502111" cy="68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Total: $31.000.000</a:t>
            </a: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Incorpora relacionamiento con autoridades, juntas vecinales y sociedad civil.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8176008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673</Words>
  <Application>Microsoft Office PowerPoint</Application>
  <PresentationFormat>Panorámica</PresentationFormat>
  <Paragraphs>90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DM Sans</vt:lpstr>
      <vt:lpstr>Libre Baskerville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Cristóbal Morales Lagos</dc:creator>
  <cp:lastModifiedBy>Cristóbal Morales Lagos</cp:lastModifiedBy>
  <cp:revision>1</cp:revision>
  <dcterms:created xsi:type="dcterms:W3CDTF">2026-04-01T14:40:42Z</dcterms:created>
  <dcterms:modified xsi:type="dcterms:W3CDTF">2026-04-01T15:08:46Z</dcterms:modified>
</cp:coreProperties>
</file>